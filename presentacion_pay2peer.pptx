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1883DD-00ED-4D0E-9D38-66AB0A29FA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DD355F-8DC2-4A3C-A5F7-7FB9B50E60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CCEEE7-E64F-4F86-8C3F-D0D6CDFBB2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02D34E-E307-446B-BAB8-60777AC4B2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C1224C-2553-4BC5-BCAC-4707DD146E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74D906-BAF4-4BC4-9CE2-BE689E73BD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AFD0A8-6B6D-410D-BB20-F7DAB0855E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A28CF2-5D4C-4858-9B01-885E86E2A15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AD20FA-0693-418A-A971-E04BACDA5B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86CC29-D64C-4A30-9502-1E2A9536EE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63B463-1947-4497-B46E-274EF017EF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475488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1371600" y="13716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Pay2Peer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371600" y="27432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06b6d4"/>
                </a:solidFill>
                <a:effectLst/>
                <a:uFillTx/>
                <a:latin typeface="Calibri"/>
              </a:rPr>
              <a:t>Plataforma segura de transferencias y monedero digital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1371600" y="51206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Alejo Viñeta  ·  IFP  ·  ASIR + Ciberseguridad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1371600" y="56692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Mayo 2026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Índice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1681920"/>
            <a:ext cx="10058040" cy="42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1.  ¿Qué es Pay2Peer?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2.  Objetivos del proyecto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3.  Arquitectura y tecnologías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4.  Funcionalidades principales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5.  Seguridad — Análisis STRIDE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6.  Cumplimiento legal (LOPD / GDPR)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7.  Blockchain Proof of Authority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8.  Despliegue e infraestructura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9. Demo en vivo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10. Conclusiones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¿Qué es Pay2Peer?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Aplicación fintech de pagos peer-to-peer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¿Qué es Pay2Peer?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31520" y="1645920"/>
            <a:ext cx="100580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Aplicación web fintech tipo PayPal / Bizum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Registro, wallet digital, transferencias P2P, solicitudes de dinero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Integración con Stripe para añadir fondos con tarjeta bancaria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Historial de transacciones con paginación y filtrado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Proyecto académico: ASIR + especialización en Ciberseguridad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Dos fases: MVP (dic 2025) → Securización completa (mayo 2026)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Objetivos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Fase 1 → Funcionalidad  ·  Fase 2 → Seguridad y producción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Objetivos de la Fase 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2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731520" y="1645920"/>
            <a:ext cx="100580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Análisis STRIDE → 15 vulnerabilidades identificadas y remediadas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Cumplimiento LOPD / GDPR: consentimiento, derecho al olvido, portabilidad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Blockchain privada PoA con firma Ed25519 para auditoría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Autenticación 2FA con TOTP (compatible Google Authenticator)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Rate limiting en 4 niveles (global, auth, password, pagos)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RBAC: roles usuario, administrador y soporte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149 tests end-to-end con Jest + Supertest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Despliegue: Docker + Nginx + Cloudflare + MongoDB Atlas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3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Arquitectura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Stack tecnológico y flujo de red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Flujo de red en producción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457200" y="2743200"/>
            <a:ext cx="1462680" cy="9140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Internet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5"/>
          <p:cNvSpPr/>
          <p:nvPr/>
        </p:nvSpPr>
        <p:spPr>
          <a:xfrm>
            <a:off x="2286000" y="2743200"/>
            <a:ext cx="2011320" cy="9140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Cloudflare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CDN · HTTPS · WAF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4663440" y="2743200"/>
            <a:ext cx="2011320" cy="91404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Nginx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Reverse Proxy :80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7040880" y="1645920"/>
            <a:ext cx="2194200" cy="91404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Next.js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 :3000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7040880" y="3840480"/>
            <a:ext cx="2194200" cy="91404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Express.js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Backend :5000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9"/>
          <p:cNvSpPr/>
          <p:nvPr/>
        </p:nvSpPr>
        <p:spPr>
          <a:xfrm>
            <a:off x="9601200" y="2743200"/>
            <a:ext cx="2285640" cy="914040"/>
          </a:xfrm>
          <a:prstGeom prst="rect">
            <a:avLst/>
          </a:prstGeom>
          <a:solidFill>
            <a:srgbClr val="4a90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MongoDB Atlas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Cloud DB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9601200" y="4114800"/>
            <a:ext cx="2285640" cy="914040"/>
          </a:xfrm>
          <a:prstGeom prst="rect">
            <a:avLst/>
          </a:prstGeom>
          <a:solidFill>
            <a:srgbClr val="ff6d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RabbitMQ</a:t>
            </a:r>
            <a:br>
              <a:rPr sz="1300"/>
            </a:b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MQ :5672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11"/>
          <p:cNvCxnSpPr/>
          <p:nvPr/>
        </p:nvCxnSpPr>
        <p:spPr>
          <a:xfrm>
            <a:off x="1920240" y="3200400"/>
            <a:ext cx="366120" cy="36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cxnSp>
        <p:nvCxnSpPr>
          <p:cNvPr id="97" name="Connector 12"/>
          <p:cNvCxnSpPr/>
          <p:nvPr/>
        </p:nvCxnSpPr>
        <p:spPr>
          <a:xfrm>
            <a:off x="4297680" y="3200400"/>
            <a:ext cx="366120" cy="36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cxnSp>
        <p:nvCxnSpPr>
          <p:cNvPr id="98" name="Connector 13"/>
          <p:cNvCxnSpPr/>
          <p:nvPr/>
        </p:nvCxnSpPr>
        <p:spPr>
          <a:xfrm flipV="1">
            <a:off x="6675120" y="2103120"/>
            <a:ext cx="366120" cy="91476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cxnSp>
        <p:nvCxnSpPr>
          <p:cNvPr id="99" name="Connector 14"/>
          <p:cNvCxnSpPr/>
          <p:nvPr/>
        </p:nvCxnSpPr>
        <p:spPr>
          <a:xfrm>
            <a:off x="6675120" y="3383280"/>
            <a:ext cx="366120" cy="91476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cxnSp>
        <p:nvCxnSpPr>
          <p:cNvPr id="100" name="Connector 15"/>
          <p:cNvCxnSpPr/>
          <p:nvPr/>
        </p:nvCxnSpPr>
        <p:spPr>
          <a:xfrm flipV="1">
            <a:off x="9235440" y="3200400"/>
            <a:ext cx="366120" cy="82332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cxnSp>
        <p:nvCxnSpPr>
          <p:cNvPr id="101" name="Connector 16"/>
          <p:cNvCxnSpPr/>
          <p:nvPr/>
        </p:nvCxnSpPr>
        <p:spPr>
          <a:xfrm>
            <a:off x="9235440" y="4389120"/>
            <a:ext cx="366120" cy="183240"/>
          </a:xfrm>
          <a:prstGeom prst="straightConnector1">
            <a:avLst/>
          </a:prstGeom>
          <a:ln>
            <a:solidFill>
              <a:srgbClr val="1e293b"/>
            </a:solidFill>
            <a:round/>
          </a:ln>
        </p:spPr>
      </p:cxnSp>
      <p:sp>
        <p:nvSpPr>
          <p:cNvPr id="102" name="TextBox 17"/>
          <p:cNvSpPr/>
          <p:nvPr/>
        </p:nvSpPr>
        <p:spPr>
          <a:xfrm>
            <a:off x="731520" y="56692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Internet  →  Cloudflare  →  Nginx  →  {Frontend · Backend}  →  MongoDB Atlas + RabbitMQ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914400" y="2011680"/>
            <a:ext cx="10058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Funcion</a:t>
            </a: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alidades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914400" y="365760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Autenticación · </a:t>
            </a: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Wallet · </a:t>
            </a: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Transferencias · </a:t>
            </a: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Solicitudes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731520" y="4572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Funcionalid</a:t>
            </a: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ades </a:t>
            </a: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principales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731520" y="1645920"/>
            <a:ext cx="10058040" cy="38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Registro con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validación de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complejidad + hash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bcrypt (10 rondas)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Login con JWT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(access 15 min +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refresh 7 días con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rotación)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2FA TOTP: QR +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código 6 dígitos,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compatible Google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Authenticator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Wallet automática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con saldo en EUR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(currency.js, sin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errores de float)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Añadir fondos vía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Stripe Elements (PCI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DSS — datos no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pasan por el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servidor)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Transferencias P2P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por email del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destinatario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Solicitudes de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dinero: enviar,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aceptar, rechazar,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cancelar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Retiro simulado (+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infraestructura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Stripe Connect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preparada)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Dashboard: saldo,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histograma 7 días,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transacciones </a:t>
            </a: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recientes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914400" y="2011680"/>
            <a:ext cx="10058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Seguridad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914400" y="365760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Análisis STRIDE · 15 vulnerabilidades · Todas remediadas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731520" y="4572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Vulnerabili</a:t>
            </a: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dades </a:t>
            </a: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STRIDE </a:t>
            </a: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(selección)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6" name="Table 4"/>
          <p:cNvGraphicFramePr/>
          <p:nvPr/>
        </p:nvGraphicFramePr>
        <p:xfrm>
          <a:off x="731520" y="1645920"/>
          <a:ext cx="10515240" cy="460548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872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ID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Categoría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Vulnerabilidad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Solución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S-01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Spoofing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JWT sin expiración adecuada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Access 15 min + refresh 7d con rotación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S-04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Tampering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Webhooks Stripe sin validación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Verificación firma constructEvent()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E-01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Elevation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Endpoints con ID en URL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Sustituidos por /me (dato del JWT)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E-02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Elevation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Wallet con saldo negativo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Verificación saldo ≥ importe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I-04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Info Discl.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Enumeración de emails en registro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Respuesta genérica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I-05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Info Discl.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Hash de contraseña en JSON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Transform toJSON elimina campos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D-01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Sin rate limiting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 niveles de limitación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R-01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Repudiation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Sin logging de seguridad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Winston con eventos tipados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731520" y="4572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Medidas de seguridad complementarias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731520" y="1645920"/>
            <a:ext cx="10058040" cy="29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Cabecera x-powered-by deshabilitada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Límite de body HTTP: 100 KB (prevención payload masivo)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Congelación automática de wallets ante disputas de Stripe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Cabeceras Nginx: X-Frame-Options, X-Content-Type-Options, X-XSS-Protection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RBAC con middleware requireRole (usuario, admin, soporte)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Logging estructurado con Winston (eventos de seguridad, transacciones, errores)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Filesystem read-only en contenedores Docker (tmpfs para /tmp y /app/logs)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Cumplimiento legal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LOPD · GDPR · Privacidad por diseño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Artículos GDPR implementados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7" name="Table 4"/>
          <p:cNvGraphicFramePr/>
          <p:nvPr/>
        </p:nvGraphicFramePr>
        <p:xfrm>
          <a:off x="731520" y="1645920"/>
          <a:ext cx="10515240" cy="359964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496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Artículo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Derecho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Implementación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Consentimiento verificable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Checkbox obligatorio + registro con IP y user-agent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15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Derecho de acceso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GET /api/users/me/export → JSON completo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17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Derecho al olvido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DELETE /api/users/me → borrado en cascada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20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Portabilidad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Exportación JSON de todos los datos del usuario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25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Privacidad por diseño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Minimización de datos, hash de passwords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Art. 32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Medidas técnicas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Cifrado, 2FA, rate limiting, logging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Blockchain PoA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Registro de auditoría criptográficamente verificable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Blockchain — Proof of Authority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31520" y="1645920"/>
            <a:ext cx="10058040" cy="29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No es una criptomoneda: es un registro de auditoría inmutable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Hash de bloque: SHA-256 (índice + prevHash + timestamp + txs + nonce)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Firma digital: Ed25519 — solo autoridades registradas sellan bloques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Sellado: cada 10 segundos o al alcanzar 10 transacciones pendientes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Verificación: GET /api/blockchain/verify recorre toda la cadena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Persistencia en MongoDB (colección blocks)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Las transacciones quedan vinculadas a bloques firmados e inalterables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292608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20116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Despliegue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914400" y="36576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Docker Compose · Nginx · Cloudflare · MongoDB Atlas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Infraestructura de producción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31520" y="1645920"/>
            <a:ext cx="10058040" cy="42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Servidor: VM propia (Debian 12) con Docker Compose v2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Failover: Cuando el servidor cae se pasa a una instancia en otra máquina propia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5 servicios: Nginx, Frontend, Backend, MongoDB (→ Atlas), RabbitMQ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Nginx como reverse proxy: /api/* → backend:5000, resto → frontend:3000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Solo Nginx expone puertos (80) — servicios internos sin acceso externo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Cloudflare: CDN, HTTPS automático (Full Strict), protección DDoS, WAF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Dominio: www.pauoscaralejo.es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MongoDB Atlas (M0 gratuito): réplicas automáticas + backups diarios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Migración sin downtime: mongodump / mongorestore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Variables sensibles en .env.production (excluido de git)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3108960"/>
            <a:ext cx="12191400" cy="727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914400" y="1828800"/>
            <a:ext cx="1005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Demo en vivo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914400" y="384048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000" strike="noStrike" u="none">
                <a:solidFill>
                  <a:srgbClr val="06b6d4"/>
                </a:solidFill>
                <a:effectLst/>
                <a:uFillTx/>
                <a:latin typeface="Calibri"/>
              </a:rPr>
              <a:t>www.pauoscaralejo.es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914400" y="475488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Registro  →  Añadir fondos  →  Transferencia P2P  →  Solicitud  →  2FA  →  Blockchain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731520" y="4572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Conclusiones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731520" y="1280160"/>
            <a:ext cx="1828440" cy="45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731520" y="1645920"/>
            <a:ext cx="100580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Todos los objetivos de ambas fases han sido alcanzados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15 vulnerabilidades STRIDE analizadas y remediadas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Cumplimiento LOPD / GDPR: consentimiento, olvido, portabilidad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Blockchain PoA con Ed25519: auditoría criptográfica verificable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149 tests E2E: funcionalidad, seguridad, legal, integraciones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Despliegue real: dominio propio, TLS, CDN, Docker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Aprendizaje clave: la seguridad aplicada es un proceso iterativo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— analizar, priorizar, remediar y verificar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4754880"/>
            <a:ext cx="12191400" cy="5436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1371600" y="1828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¿Preguntas?</a:t>
            </a:r>
            <a:endParaRPr b="0" lang="en-US" sz="6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1371600" y="347472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06b6d4"/>
                </a:solidFill>
                <a:effectLst/>
                <a:uFillTx/>
                <a:latin typeface="Calibri"/>
              </a:rPr>
              <a:t>Pay2Peer — Plataforma segura de transferencias y monedero digital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1371600" y="51206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Alejo Viñeta  ·  IFP  ·  ASIR + Ciberseguridad  ·  Mayo 2026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2026-05-05T00:04:39Z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