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Calibri"/>
              </a:defRPr>
            </a:pPr>
            <a:r>
              <a:t>Pay2Peer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6B6D4"/>
                </a:solidFill>
                <a:latin typeface="Calibri"/>
              </a:defRPr>
            </a:pPr>
            <a:r>
              <a:t>Plataforma segura de transferencias y monedero digital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120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4748B"/>
                </a:solidFill>
                <a:latin typeface="Calibri"/>
              </a:defRPr>
            </a:pPr>
            <a:r>
              <a:t>Alejo Viñeta  ·  IFP  ·  ASIR + Ciberseguridad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669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4748B"/>
                </a:solidFill>
                <a:latin typeface="Calibri"/>
              </a:defRPr>
            </a:pPr>
            <a:r>
              <a:t>Mayo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Índice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1.  ¿Qué es Pay2Peer?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2.  Objetivos del proyecto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3.  Arquitectura y tecnologías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4.  Funcionalidades principales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5.  Seguridad — Análisis STRIDE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6.  Cumplimiento legal (LOPD / GDPR)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7.  Blockchain Proof of Authority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8.  Testing — 149 pruebas E2E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9.  Despliegue e infraestructura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10. Demo en vivo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11. Conclusiones y trabajo futuro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¿Qué es Pay2Peer?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748B"/>
                </a:solidFill>
                <a:latin typeface="Calibri"/>
              </a:defRPr>
            </a:pPr>
            <a:r>
              <a:t>Aplicación fintech de pagos peer-to-peer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¿Qué es Pay2Peer?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Aplicación web fintech tipo PayPal / Bizum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Registro, wallet digital, transferencias P2P, solicitudes de dinero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Integración con Stripe para añadir fondos con tarjeta bancaria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Historial de transacciones con paginación y filtrado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Proyecto académico: ASIR + especialización en Ciberseguridad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Dos fases: MVP (dic 2025) → Securización completa (mayo 2026)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Objetivos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748B"/>
                </a:solidFill>
                <a:latin typeface="Calibri"/>
              </a:defRPr>
            </a:pPr>
            <a:r>
              <a:t>Fase 1 → Funcionalidad  ·  Fase 2 → Seguridad y producción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Objetivos de la Fase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Análisis STRIDE → 15 vulnerabilidades identificadas y remediadas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Cumplimiento LOPD / GDPR: consentimiento, derecho al olvido, portabilidad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Blockchain privada PoA con firma Ed25519 para auditoría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Autenticación 2FA con TOTP (compatible Google Authenticator)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Rate limiting en 4 niveles (global, auth, password, pagos)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RBAC: roles usuario, administrador y soporte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149 tests end-to-end con Jest + Supertest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Despliegue: Docker + Nginx + Cloudflare + MongoDB Atlas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Arquitectura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748B"/>
                </a:solidFill>
                <a:latin typeface="Calibri"/>
              </a:defRPr>
            </a:pPr>
            <a:r>
              <a:t>Stack tecnológico y flujo de red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Flujo de red en producción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1463040" cy="914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Internet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2743200"/>
            <a:ext cx="2011680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Cloudflare</a:t>
            </a:r>
            <a:br/>
            <a:r>
              <a:t>CDN · HTTPS · WAF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2743200"/>
            <a:ext cx="2011680" cy="914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Nginx</a:t>
            </a:r>
            <a:br/>
            <a:r>
              <a:t>Reverse Proxy :80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1645920"/>
            <a:ext cx="2194560" cy="9144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Next.js</a:t>
            </a:r>
            <a:br/>
            <a:r>
              <a:t>Frontend :3000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0" y="3840480"/>
            <a:ext cx="2194560" cy="9144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Express.js</a:t>
            </a:r>
            <a:br/>
            <a:r>
              <a:t>Backend :5000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0" y="2743200"/>
            <a:ext cx="2286000" cy="914400"/>
          </a:xfrm>
          <a:prstGeom prst="rect">
            <a:avLst/>
          </a:prstGeom>
          <a:solidFill>
            <a:srgbClr val="4A9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MongoDB Atlas</a:t>
            </a:r>
            <a:br/>
            <a:r>
              <a:t>Cloud DB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0" y="4114800"/>
            <a:ext cx="2286000" cy="9144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RabbitMQ</a:t>
            </a:r>
            <a:br/>
            <a:r>
              <a:t>MQ :5672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20240" y="3200400"/>
            <a:ext cx="365760" cy="0"/>
          </a:xfrm>
          <a:prstGeom prst="line">
            <a:avLst/>
          </a:prstGeom>
          <a:ln w="2540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3200400"/>
            <a:ext cx="365760" cy="0"/>
          </a:xfrm>
          <a:prstGeom prst="line">
            <a:avLst/>
          </a:prstGeom>
          <a:ln w="2540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6675120" y="2103120"/>
            <a:ext cx="365760" cy="914400"/>
          </a:xfrm>
          <a:prstGeom prst="line">
            <a:avLst/>
          </a:prstGeom>
          <a:ln w="2540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0" y="3383280"/>
            <a:ext cx="365760" cy="914400"/>
          </a:xfrm>
          <a:prstGeom prst="line">
            <a:avLst/>
          </a:prstGeom>
          <a:ln w="2540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9235440" y="3200400"/>
            <a:ext cx="365760" cy="822960"/>
          </a:xfrm>
          <a:prstGeom prst="line">
            <a:avLst/>
          </a:prstGeom>
          <a:ln w="2540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235440" y="4389120"/>
            <a:ext cx="365760" cy="182880"/>
          </a:xfrm>
          <a:prstGeom prst="line">
            <a:avLst/>
          </a:prstGeom>
          <a:ln w="2540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Internet  →  Cloudflare  →  Nginx  →  {Frontend · Backend}  →  MongoDB Atlas + RabbitMQ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Stack tecnológico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515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0292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Tecnología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Versión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Frontend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Next.js 15 (React 19) + TypeScript + Tailwind CSS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 / 19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Backend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Express.js + Node.js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5 / 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Base de datos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MongoDB Atlas (Mongoose ODM)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7.0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Cola mensajes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RabbitMQ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Pagos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Stripe API + Stripe Elements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Email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SendGrid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Proxy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Nginx (Alpine)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CDN / TLS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Cloudflare (Free plan)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Orquestación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Docker Compose v2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Funcionalidades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748B"/>
                </a:solidFill>
                <a:latin typeface="Calibri"/>
              </a:defRPr>
            </a:pPr>
            <a:r>
              <a:t>Autenticación · Wallet · Transferencias · Solicitudes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Funcionalidades principales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Registro con validación de complejidad + hash bcrypt (10 rondas)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Login con JWT (access 15 min + refresh 7 días con rotación)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2FA TOTP: QR + código 6 dígitos, compatible Google Authenticator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Wallet automática con saldo en EUR (currency.js, sin errores de float)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Añadir fondos vía Stripe Elements (PCI DSS — datos no pasan por el servidor)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Transferencias P2P por email del destinatario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Solicitudes de dinero: enviar, aceptar, rechazar, cancelar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Retiro simulado (+ infraestructura Stripe Connect preparada)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Dashboard: saldo, histograma 7 días, transacciones recientes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Seguridad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748B"/>
                </a:solidFill>
                <a:latin typeface="Calibri"/>
              </a:defRPr>
            </a:pPr>
            <a:r>
              <a:t>Análisis STRIDE · 15 vulnerabilidades · Todas remediadas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Vulnerabilidades STRIDE (selección)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51560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50292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Categoría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Vulnerabilidad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Solución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S-01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Spoofing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JWT sin expiración adecuada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Access 15 min + refresh 7d con rotación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S-04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Tampering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Webhooks Stripe sin validación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Verificación firma constructEvent()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E-01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Elevation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Endpoints con ID en URL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Sustituidos por /me (dato del JWT)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E-02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Elevation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Wallet con saldo negativo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Verificación saldo ≥ importe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I-04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Info Discl.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Enumeración de emails en registro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Respuesta genérica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Info Discl.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Hash de contraseña en JSON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Transform toJSON elimina campos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D-01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DoS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Sin rate limiting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4 niveles de limitación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R-01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Repudiation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Sin logging de seguridad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Winston con eventos tipados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Medidas de seguridad complementarias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Cabecera x-powered-by deshabilitada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Límite de body HTTP: 100 KB (prevención payload masivo)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Congelación automática de wallets ante disputas de Stripe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Cabeceras Nginx: X-Frame-Options, X-Content-Type-Options, X-XSS-Protection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RBAC con middleware requireRole (usuario, admin, soporte)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Logging estructurado con Winston (eventos de seguridad, transacciones, errores)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Filesystem read-only en contenedores Docker (tmpfs para /tmp y /app/logs)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Cumplimiento legal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748B"/>
                </a:solidFill>
                <a:latin typeface="Calibri"/>
              </a:defRPr>
            </a:pPr>
            <a:r>
              <a:t>LOPD · GDPR · Privacidad por diseño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Artículos GDPR implementados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51560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0292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Artículo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Derecho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Implementación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Art. 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Consentimiento verificable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Checkbox obligatorio + registro con IP y user-agent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Art.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Derecho de acceso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GET /api/users/me/export → JSON completo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Art. 17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Derecho al olvido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DELETE /api/users/me → borrado en cascada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Art. 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Portabilidad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Exportación JSON de todos los datos del usuario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Art. 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Privacidad por diseño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Minimización de datos, hash de passwords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Art. 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Medidas técnicas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Cifrado, 2FA, rate limiting, logging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Blockchain PoA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748B"/>
                </a:solidFill>
                <a:latin typeface="Calibri"/>
              </a:defRPr>
            </a:pPr>
            <a:r>
              <a:t>Registro de auditoría criptográficamente verificable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Blockchain — Proof of Authority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No es una criptomoneda: es un registro de auditoría inmutable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Hash de bloque: SHA-256 (índice + prevHash + timestamp + txs + nonce)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Firma digital: Ed25519 — solo autoridades registradas sellan bloques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Proof of Work con dificultad configurable (dificultad 2 en producción)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Sellado: cada 10 segundos o al alcanzar 10 transacciones pendientes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Verificación: GET /api/blockchain/verify recorre toda la cadena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Persistencia en MongoDB (colección blocks)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Las transacciones quedan vinculadas a bloques firmados e inalterables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748B"/>
                </a:solidFill>
                <a:latin typeface="Calibri"/>
              </a:defRPr>
            </a:pPr>
            <a:r>
              <a:t>149 pruebas · 13 suites · 100% de éxito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Distribución de tests por área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1051560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02920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Área funcional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Cobertura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Tests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Autenticación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Login, refresh, logout, lifecycle de tokens, 2FA TOTP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Wallet &amp; Pagos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Balance, fondos, transferencias P2P, paginación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Seguridad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OWASP Top 10, rate limiting (4 niveles), RBAC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33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Stripe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Webhooks (firma), Stripe Connect, retiros, rollback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LOPD / GDPR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Consentimiento, derecho al olvido, exportación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Blockchain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Verificación de cadena, sellado, integridad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Funcionalidades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Solicitudes, retiros simulados, freeze de wallet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13 suites · 100 % de éxito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E293B"/>
                          </a:solidFill>
                          <a:latin typeface="Calibri"/>
                        </a:defRPr>
                      </a:pPr>
                      <a:r>
                        <a:t>149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Despliegue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4748B"/>
                </a:solidFill>
                <a:latin typeface="Calibri"/>
              </a:defRPr>
            </a:pPr>
            <a:r>
              <a:t>Docker Compose · Nginx · Cloudflare · MongoDB Atlas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Infraestructura de producción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Servidor: VM propia (Debian 12) con Docker Compose v2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5 servicios: Nginx, Frontend, Backend, MongoDB (→ Atlas), RabbitMQ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Nginx como reverse proxy: /api/* → backend:5000, resto → frontend:3000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Solo Nginx expone puertos (80) — servicios internos sin acceso externo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Cloudflare: CDN, HTTPS automático (Full Strict), protección DDoS, WAF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Dominio: www.pauoscaralejo.es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MongoDB Atlas (M0 gratuito): réplicas automáticas + backups diarios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Migración sin downtime: mongodump / mongorestore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Variables sensibles en .env.production (excluido de git)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10896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Demo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06B6D4"/>
                </a:solidFill>
                <a:latin typeface="Calibri"/>
              </a:defRPr>
            </a:pPr>
            <a:r>
              <a:t>www.pauoscaralejo.es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  <a:latin typeface="Calibri"/>
              </a:defRPr>
            </a:pPr>
            <a:r>
              <a:t>Registro  →  Añadir fondos  →  Transferencia P2P  →  Solicitud  →  2FA  →  Blockchain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Conclusiones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Conclusiones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Todos los objetivos de ambas fases han sido alcanzados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15 vulnerabilidades STRIDE analizadas y remediadas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Cumplimiento LOPD / GDPR: consentimiento, olvido, portabilidad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Blockchain PoA con Ed25519: auditoría criptográfica verificable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149 tests E2E: funcionalidad, seguridad, legal, integraciones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Despliegue real: dominio propio, TLS, CDN, Docker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Aprendizaje clave: la seguridad aplicada es un proceso iterativo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— analizar, priorizar, remediar y verificar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E293B"/>
                </a:solidFill>
                <a:latin typeface="Calibri"/>
              </a:defRPr>
            </a:pPr>
            <a:r>
              <a:t>Trabajo futuro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828800" cy="45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Alta disponibilidad con failover via Cloudflare Tunnel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Activación de Stripe Connect con cuenta empresarial verificada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CI/CD con GitHub Actions (tests + deploy automático)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Migración a PostgreSQL + Prisma (esquema estabilizado)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SSO / OAuth (Google, GitHub)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Páginas legales estáticas (/privacy, /terms)</a:t>
            </a:r>
          </a:p>
          <a:p>
            <a:pPr>
              <a:spcAft>
                <a:spcPts val="1000"/>
              </a:spcAft>
              <a:defRPr sz="2000">
                <a:solidFill>
                  <a:srgbClr val="1E293B"/>
                </a:solidFill>
                <a:latin typeface="Calibri"/>
              </a:defRPr>
            </a:pPr>
            <a:r>
              <a:t>Notificación de brechas (Art. 33 GDPR)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  <a:latin typeface="Calibri"/>
              </a:defRPr>
            </a:pPr>
            <a:r>
              <a:t>¿Preguntas?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474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06B6D4"/>
                </a:solidFill>
                <a:latin typeface="Calibri"/>
              </a:defRPr>
            </a:pPr>
            <a:r>
              <a:t>Pay2Peer — Plataforma segura de transferencias y monedero digital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120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64748B"/>
                </a:solidFill>
                <a:latin typeface="Calibri"/>
              </a:defRPr>
            </a:pPr>
            <a:r>
              <a:t>Alejo Viñeta  ·  IFP  ·  ASIR + Ciberseguridad  ·  Mayo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